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8887968" cy="73152"/>
          </a:xfrm>
          <a:prstGeom prst="rect">
            <a:avLst/>
          </a:prstGeom>
          <a:solidFill>
            <a:srgbClr val="2E78C5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2E78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822960"/>
            <a:ext cx="28346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628"/>
                </a:solidFill>
              </a:rPr>
              <a:t>ENTERPRISE SECURITY PROGRAM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Converged AI Security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Program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DCEF"/>
                </a:solidFill>
              </a:rPr>
              <a:t>Leveraging Microsoft Purview · Defender for AI · Defender XDR · Agent ID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657600"/>
            <a:ext cx="4114800" cy="0"/>
          </a:xfrm>
          <a:prstGeom prst="line">
            <a:avLst/>
          </a:prstGeom>
          <a:noFill/>
          <a:ln w="6350">
            <a:solidFill>
              <a:srgbClr val="8FA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749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</a:rPr>
              <a:t>Presented to: Security Directors &amp; Managers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40233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</a:rPr>
              <a:t>Delivery Horizon: Q1–Q2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</a:rPr>
              <a:t>The AI threat landscape has evolved faster than our current security controls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886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64008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45920"/>
            <a:ext cx="50292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" y="1645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Uncontrolled AI adoption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AI workloads, copilots, and agents are being deployed across the enterprise without formal security oversight or governance.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3886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508760"/>
            <a:ext cx="64008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1645920"/>
            <a:ext cx="50292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MCP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0" y="1645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MCP server sprawl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011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Model Context Protocol integrations are expanding the attack surface for agentic workflows, with no baseline security controls in place.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3886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63240"/>
            <a:ext cx="64008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200400"/>
            <a:ext cx="50292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SIL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7280" y="3200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Siloed directorates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566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Data Protection, Cyber Defense, and Cloud Security operate independently — creating blind spots no single team can resolve alone.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3063240"/>
            <a:ext cx="3886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063240"/>
            <a:ext cx="64008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3200400"/>
            <a:ext cx="50292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REG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03520" y="3200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Regulatory pressure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3566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EU AI Act and NIST AI RMF obligations are driving the need for a formal, auditable AI security and governance program.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Converged AI Security Foundational Program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Challenge: Siloed Security Directorates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29000" y="1920240"/>
            <a:ext cx="2286000" cy="914400"/>
          </a:xfrm>
          <a:prstGeom prst="rect">
            <a:avLst/>
          </a:prstGeom>
          <a:solidFill>
            <a:srgbClr val="0A1628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290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Security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19456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43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Protection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Directorate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Manages Purview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2286000"/>
            <a:ext cx="1783080" cy="-45720"/>
          </a:xfrm>
          <a:prstGeom prst="line">
            <a:avLst/>
          </a:prstGeom>
          <a:noFill/>
          <a:ln w="19050">
            <a:solidFill>
              <a:srgbClr val="CC3333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4320" y="3108960"/>
            <a:ext cx="2194560" cy="100584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3108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Cyber Defense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Directorate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703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Manages Defender XDR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00200" y="3429000"/>
            <a:ext cx="1828800" cy="-868680"/>
          </a:xfrm>
          <a:prstGeom prst="line">
            <a:avLst/>
          </a:prstGeom>
          <a:noFill/>
          <a:ln w="19050">
            <a:solidFill>
              <a:srgbClr val="CC333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0" y="1143000"/>
            <a:ext cx="2194560" cy="10058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143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Security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Directorate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Manages Defender for AI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0" y="2286000"/>
            <a:ext cx="-685800" cy="-45720"/>
          </a:xfrm>
          <a:prstGeom prst="line">
            <a:avLst/>
          </a:prstGeom>
          <a:noFill/>
          <a:ln w="19050">
            <a:solidFill>
              <a:srgbClr val="CC333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00800" y="3108960"/>
            <a:ext cx="2194560" cy="10058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3108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Other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Directorates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703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Other tools &amp; controls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3429000"/>
            <a:ext cx="-685800" cy="-868680"/>
          </a:xfrm>
          <a:prstGeom prst="line">
            <a:avLst/>
          </a:prstGeom>
          <a:noFill/>
          <a:ln w="19050">
            <a:solidFill>
              <a:srgbClr val="CC3333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200400" y="914400"/>
            <a:ext cx="2743200" cy="34747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914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MANAGEMENT SILOS — NO CONVERGED VIEW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4F8A"/>
                </a:solidFill>
              </a:rPr>
              <a:t>Each directorate operates independently — no shared visibility, playbooks, or ownership of AI-specific threats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Converged AI Security Foundational Program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4F8A"/>
                </a:solidFill>
              </a:rPr>
              <a:t>A 5-phase converged program securing all AI workloads, agents, and platforms across the enterprise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54480" cy="2560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109728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116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Foundation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Governance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109728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20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Q1 M1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265176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371600"/>
            <a:ext cx="1554480" cy="2560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1168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2240280" y="1965960"/>
            <a:ext cx="109728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0116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Asset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Discovery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40280" y="3520440"/>
            <a:ext cx="109728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3520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Q1 M1–2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0" y="265176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1371600"/>
            <a:ext cx="1554480" cy="256032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4904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3977640" y="1965960"/>
            <a:ext cx="109728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0116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Foundational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77640" y="3520440"/>
            <a:ext cx="109728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3520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Q1–Q2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265176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1371600"/>
            <a:ext cx="1554480" cy="2560320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5715000" y="1965960"/>
            <a:ext cx="109728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20116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Cross-Dir.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15000" y="3520440"/>
            <a:ext cx="109728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3520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Q2 M5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40880" y="265176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1371600"/>
            <a:ext cx="1554480" cy="2560320"/>
          </a:xfrm>
          <a:prstGeom prst="rect">
            <a:avLst/>
          </a:prstGeom>
          <a:solidFill>
            <a:srgbClr val="C47A2A"/>
          </a:solidFill>
          <a:ln w="12700">
            <a:solidFill>
              <a:srgbClr val="C47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2376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7452360" y="1965960"/>
            <a:ext cx="109728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20116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Maturity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52360" y="3520440"/>
            <a:ext cx="109728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3520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EF"/>
                </a:solidFill>
              </a:rPr>
              <a:t>Q2 M6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069080"/>
            <a:ext cx="1828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40965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457200" y="4434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8A"/>
                </a:solidFill>
              </a:rPr>
              <a:t>Directorates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4F8A"/>
                </a:solidFill>
              </a:rPr>
              <a:t>converged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0" y="4069080"/>
            <a:ext cx="1828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560320" y="40965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2560320" y="4434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8A"/>
                </a:solidFill>
              </a:rPr>
              <a:t>Months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4F8A"/>
                </a:solidFill>
              </a:rPr>
              <a:t>full delivery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4069080"/>
            <a:ext cx="1828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663440" y="40965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4663440" y="4434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8A"/>
                </a:solidFill>
              </a:rPr>
              <a:t>Microsoft tools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4F8A"/>
                </a:solidFill>
              </a:rPr>
              <a:t>leveraged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66560" y="4069080"/>
            <a:ext cx="1828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766560" y="40965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6766560" y="4434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8A"/>
                </a:solidFill>
              </a:rPr>
              <a:t>AI risk areas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4F8A"/>
                </a:solidFill>
              </a:rPr>
              <a:t>addressed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Converged AI Security Foundational Program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2-Quarter Delivery Timeline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77640" cy="384048"/>
          </a:xfrm>
          <a:prstGeom prst="rect">
            <a:avLst/>
          </a:prstGeom>
          <a:solidFill>
            <a:srgbClr val="2E78C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Q1 — ESTABLISH  (Months 1–3)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92040" y="914400"/>
            <a:ext cx="3977640" cy="384048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914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Q2 — OPERATIONALISE  (Months 4–6)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17320"/>
            <a:ext cx="64008" cy="10789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47218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01 · Foundation &amp; Governance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481328"/>
            <a:ext cx="91440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81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Month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Steering committee stood up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9751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RACI agreed across all directorates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2128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AI Security charter signed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578608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578608"/>
            <a:ext cx="64008" cy="107899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6334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02 · AI Asset Discovery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2642616"/>
            <a:ext cx="914400" cy="2011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26426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Months 1–2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28986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Full AI asset inventory complete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136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MCP servers &amp; agents catalogued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3741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AI risk register published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739896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739896"/>
            <a:ext cx="64008" cy="1078992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794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03 · Foundational Controls (begin)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3803904"/>
            <a:ext cx="914400" cy="201168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803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Months 2–3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1480" y="40599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Purview DLP for AI enabled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42976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Agent ID rollout begins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535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Defender for AI posture baseline set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14173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1417320"/>
            <a:ext cx="64008" cy="1078992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147218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03 · Foundational Controls (complete)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18120" y="1481328"/>
            <a:ext cx="914400" cy="201168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18120" y="1481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Months 4–5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All Defender XDR AI detections live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19751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MCP server security baseline enforced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22128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AI incident playbooks approved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92040" y="2578608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2578608"/>
            <a:ext cx="64008" cy="1078992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26334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04 · Cross-Directorate Integration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818120" y="2642616"/>
            <a:ext cx="914400" cy="201168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18120" y="26426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Month 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29200" y="28986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Unified Sentinel workspace live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0" y="31363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Joint SOC view for AI threats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29200" y="33741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Cross-directorate tabletop exercise run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92040" y="3739896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92040" y="3739896"/>
            <a:ext cx="64008" cy="1078992"/>
          </a:xfrm>
          <a:prstGeom prst="rect">
            <a:avLst/>
          </a:prstGeom>
          <a:solidFill>
            <a:srgbClr val="C47A2A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0" y="3794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05 · Maturity &amp; Compliance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818120" y="3803904"/>
            <a:ext cx="914400" cy="201168"/>
          </a:xfrm>
          <a:prstGeom prst="rect">
            <a:avLst/>
          </a:prstGeom>
          <a:solidFill>
            <a:srgbClr val="C47A2A"/>
          </a:solidFill>
          <a:ln w="12700">
            <a:solidFill>
              <a:srgbClr val="C47A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18120" y="3803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Month 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29200" y="40599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Secure Score baseline published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29200" y="42976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NIST AI RMF maturity assessed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29200" y="4535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  Executive dashboard delivered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26280" y="914400"/>
            <a:ext cx="0" cy="3840480"/>
          </a:xfrm>
          <a:prstGeom prst="line">
            <a:avLst/>
          </a:prstGeom>
          <a:noFill/>
          <a:ln w="12700">
            <a:solidFill>
              <a:srgbClr val="C8DCEF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Converged AI Security Foundational Program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Foundational Controls — Microsoft Tooling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23444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" y="914400"/>
            <a:ext cx="4233672" cy="34747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509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Protection Directorate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097280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EF"/>
                </a:solidFill>
              </a:rPr>
              <a:t>Microsoft Purview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31673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Data classification &amp; sensitivity labelling for AI data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517904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DLP policies for LLM inputs/outputs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71907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Information barriers against AI data leakage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92024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Purview AI hub — Copilot &amp; AI interaction monitoring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64008" cy="1234440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" y="2286000"/>
            <a:ext cx="4233672" cy="347472"/>
          </a:xfrm>
          <a:prstGeom prst="rect">
            <a:avLst/>
          </a:prstGeom>
          <a:solidFill>
            <a:srgbClr val="0F6B5C"/>
          </a:solidFill>
          <a:ln w="12700">
            <a:solidFill>
              <a:srgbClr val="0F6B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3225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Cyber Defense Directorate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" y="2468880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EF"/>
                </a:solidFill>
              </a:rPr>
              <a:t>Defender XDR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268833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AI workload onboarding to XDR telemetry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2889504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AI-specific detections (prompt injection, jailbreak)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09067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UEBA for anomalous AI usage patterns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29184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Sentinel playbooks for AI incidents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65760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657600"/>
            <a:ext cx="64008" cy="123444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4" name="Shape 22"/>
          <p:cNvSpPr/>
          <p:nvPr/>
        </p:nvSpPr>
        <p:spPr>
          <a:xfrm>
            <a:off x="338328" y="3657600"/>
            <a:ext cx="4233672" cy="347472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6941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 Security Directorate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" y="3840480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EF"/>
                </a:solidFill>
              </a:rPr>
              <a:t>Defender for AI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05993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AI security posture management (CSPM)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Workload protection — Azure OpenAI, AI Studio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46227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AI-specific Secure Score &amp; recommendations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466344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Runtime protection for inference endpoints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914400"/>
            <a:ext cx="4297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914400"/>
            <a:ext cx="64008" cy="2606040"/>
          </a:xfrm>
          <a:prstGeom prst="rect">
            <a:avLst/>
          </a:prstGeom>
          <a:solidFill>
            <a:srgbClr val="C47A2A"/>
          </a:solidFill>
          <a:ln/>
        </p:spPr>
      </p:sp>
      <p:sp>
        <p:nvSpPr>
          <p:cNvPr id="33" name="Shape 31"/>
          <p:cNvSpPr/>
          <p:nvPr/>
        </p:nvSpPr>
        <p:spPr>
          <a:xfrm>
            <a:off x="4818888" y="914400"/>
            <a:ext cx="4233672" cy="347472"/>
          </a:xfrm>
          <a:prstGeom prst="rect">
            <a:avLst/>
          </a:prstGeom>
          <a:solidFill>
            <a:srgbClr val="C47A2A"/>
          </a:solidFill>
          <a:ln w="12700">
            <a:solidFill>
              <a:srgbClr val="C47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9509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Identity &amp; Agent Security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0328" y="1097280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EF"/>
                </a:solidFill>
              </a:rPr>
              <a:t>Agent ID / Entra ID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92040" y="131673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Register agents as managed identities (Agent ID)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1517904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Least-privilege service principal access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171907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Entra ID conditional access for AI platforms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192024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PIM for privileged AI admin roles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91440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914400"/>
            <a:ext cx="64008" cy="1234440"/>
          </a:xfrm>
          <a:prstGeom prst="rect">
            <a:avLst/>
          </a:prstGeom>
          <a:solidFill>
            <a:srgbClr val="C47A2A"/>
          </a:solidFill>
          <a:ln/>
        </p:spPr>
      </p:sp>
      <p:sp>
        <p:nvSpPr>
          <p:cNvPr id="42" name="Shape 40"/>
          <p:cNvSpPr/>
          <p:nvPr/>
        </p:nvSpPr>
        <p:spPr>
          <a:xfrm>
            <a:off x="4818888" y="914400"/>
            <a:ext cx="4233672" cy="347472"/>
          </a:xfrm>
          <a:prstGeom prst="rect">
            <a:avLst/>
          </a:prstGeom>
          <a:solidFill>
            <a:srgbClr val="C47A2A"/>
          </a:solidFill>
          <a:ln w="12700">
            <a:solidFill>
              <a:srgbClr val="C47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0328" y="95097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Identity &amp; Agent Security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10328" y="1115568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EF"/>
                </a:solidFill>
              </a:rPr>
              <a:t>Agent ID / Entra ID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92040" y="131673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Register agents as managed identities (Agent ID)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92040" y="1517904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Least-privilege service principal access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92040" y="171907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Entra ID conditional access for AI platforms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92040" y="192024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PIM for privileged AI admin roles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228600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2286000"/>
            <a:ext cx="64008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1" name="Shape 49"/>
          <p:cNvSpPr/>
          <p:nvPr/>
        </p:nvSpPr>
        <p:spPr>
          <a:xfrm>
            <a:off x="4818888" y="2286000"/>
            <a:ext cx="42336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0328" y="232257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MCP &amp; Agentic Security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910328" y="2487168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EF"/>
                </a:solidFill>
              </a:rPr>
              <a:t>Cross-team ownership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92040" y="268833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Security baseline for all MCP server deployments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92040" y="2889504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Auth &amp; authorisation on MCP tool interfaces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92040" y="309067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Network segmentation for MCP environments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92040" y="329184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 Approval gates for new MCP integrations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Converged AI Security Foundational Program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4: Breaking Down the Silos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4F8A"/>
                </a:solidFill>
              </a:rPr>
              <a:t>Cross-directorate integration delivered in Month 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64008" cy="1097280"/>
          </a:xfrm>
          <a:prstGeom prst="rect">
            <a:avLst/>
          </a:prstGeom>
          <a:solidFill>
            <a:srgbClr val="2E78C5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3898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Unified AI Security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64592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Single-pane-of-glass across Defender XDR, Microsoft Purview, and Defender for AI — giving all directorates shared visibility into AI threats and posture.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487168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487168"/>
            <a:ext cx="64008" cy="1097280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5786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Shared Microsoft Sentinel Workspace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8346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Common workspace for AI threat correlation across all directorates — breaking down separate analytics silos and enabling cross-domain detection rules.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675888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675888"/>
            <a:ext cx="64008" cy="109728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37673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Joint Incident Response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402336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Unified on-call model, shared escalation paths, and jointly-authored runbooks for the most critical AI threat scenarios: prompt injection, data exfiltration via AI, and rogue agent incidents.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298448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298448"/>
            <a:ext cx="64008" cy="1097280"/>
          </a:xfrm>
          <a:prstGeom prst="rect">
            <a:avLst/>
          </a:prstGeom>
          <a:solidFill>
            <a:srgbClr val="C47A2A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13898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Cross-Directorate Working Group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164592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Bi-weekly forum for all security directors to review AI threat intelligence, track program milestones, and jointly own emerging AI security risks.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487168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487168"/>
            <a:ext cx="64008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25786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Tabletop Exercise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28346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Simulated AI security incident spanning all directorates — testing the joint response model, identifying gaps, and building muscle memory before a real incident occurs.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Converged AI Security Foundational Program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AI Security Risks Addressed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79476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4754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Mitigation via Program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Prompt injection &amp; jailbreaks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Defender XDR detections + Sentinel playbooks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Data exfiltration via AI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Purview DLP + AI hub monitoring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Rogue or over-privileged agents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Agent ID + Entra ID PIM &amp; conditional access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MCP server sprawl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7A2A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MCP security baseline + approval gates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AI platform misconfiguration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Defender for AI CSPM + Secure Score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Directorate blind spots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7A2A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Unified Sentinel workspace + steering committee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914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Risk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108960" y="914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Impact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069080" y="914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Mitigation via Program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37160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Prompt injection &amp; jailbreaks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490472"/>
            <a:ext cx="68580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14904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14800" y="1371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Defender XDR detections + Sentinel playbooks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1901952"/>
            <a:ext cx="841248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19019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Data exfiltration via AI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68580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46120" y="20208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0" y="19019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Purview DLP + AI hub monitoring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" y="2432304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24323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Rogue or over-privileged agents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551176"/>
            <a:ext cx="68580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46120" y="255117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114800" y="24323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Agent ID + Entra ID PIM &amp; conditional access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5760" y="2962656"/>
            <a:ext cx="841248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296265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MCP server sprawl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081528"/>
            <a:ext cx="685800" cy="274320"/>
          </a:xfrm>
          <a:prstGeom prst="rect">
            <a:avLst/>
          </a:prstGeom>
          <a:solidFill>
            <a:srgbClr val="C47A2A"/>
          </a:solidFill>
          <a:ln w="12700">
            <a:solidFill>
              <a:srgbClr val="C47A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46120" y="30815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114800" y="29626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MCP security baseline + approval gates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65760" y="3493008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34930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AI platform misconfiguration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46120" y="3611880"/>
            <a:ext cx="68580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46120" y="36118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114800" y="34930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Defender for AI CSPM + Secure Score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" y="4023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Directorate blind spots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246120" y="4142232"/>
            <a:ext cx="685800" cy="274320"/>
          </a:xfrm>
          <a:prstGeom prst="rect">
            <a:avLst/>
          </a:prstGeom>
          <a:solidFill>
            <a:srgbClr val="C47A2A"/>
          </a:solidFill>
          <a:ln w="12700">
            <a:solidFill>
              <a:srgbClr val="C47A2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46120" y="41422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114800" y="40233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Unified Sentinel workspace + steering committee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Converged AI Security Foundational Program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Model &amp; Frameworks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8C8"/>
                </a:solidFill>
              </a:rPr>
              <a:t>GOVERNANCE STRUCTURE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64008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618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AI Security Steering Committee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" y="14813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All security directors — meets monthly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28800"/>
            <a:ext cx="64008" cy="530352"/>
          </a:xfrm>
          <a:prstGeom prst="rect">
            <a:avLst/>
          </a:prstGeom>
          <a:solidFill>
            <a:srgbClr val="2E78C5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8836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Program Director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" y="21031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Accountable for delivery across all phases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45059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50592"/>
            <a:ext cx="64008" cy="530352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5054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Directorate Leads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27249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Data Protection · Cyber Defense · Cloud Security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72384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72384"/>
            <a:ext cx="64008" cy="530352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1272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AI Security Working Group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33467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Operational — bi-weekly cross-directorate forum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868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8C8"/>
                </a:solidFill>
              </a:rPr>
              <a:t>ALIGNED FRAMEWORKS &amp; STANDARDS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20700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207008"/>
            <a:ext cx="64008" cy="502920"/>
          </a:xfrm>
          <a:prstGeom prst="rect">
            <a:avLst/>
          </a:prstGeom>
          <a:solidFill>
            <a:srgbClr val="2E78C5"/>
          </a:solidFill>
          <a:ln/>
        </p:spPr>
      </p:sp>
      <p:sp>
        <p:nvSpPr>
          <p:cNvPr id="24" name="Text 22"/>
          <p:cNvSpPr/>
          <p:nvPr/>
        </p:nvSpPr>
        <p:spPr>
          <a:xfrm>
            <a:off x="5001768" y="1261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NIST AI RMF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01768" y="14630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Govern · Map · Measure · Manage functions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180136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801368"/>
            <a:ext cx="64008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5001768" y="18562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MITRE ATLAS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01768" y="2057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Adversarial AI threat modelling and detection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39572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395728"/>
            <a:ext cx="64008" cy="5029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2" name="Text 30"/>
          <p:cNvSpPr/>
          <p:nvPr/>
        </p:nvSpPr>
        <p:spPr>
          <a:xfrm>
            <a:off x="5001768" y="2450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Microsoft SDL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01768" y="26517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Secure development lifecycle for AI workloads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299008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2990088"/>
            <a:ext cx="64008" cy="502920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36" name="Text 34"/>
          <p:cNvSpPr/>
          <p:nvPr/>
        </p:nvSpPr>
        <p:spPr>
          <a:xfrm>
            <a:off x="5001768" y="30449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EU AI Act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01768" y="32461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High-risk AI compliance obligations and documentation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58444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584448"/>
            <a:ext cx="64008" cy="50292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40" name="Text 38"/>
          <p:cNvSpPr/>
          <p:nvPr/>
        </p:nvSpPr>
        <p:spPr>
          <a:xfrm>
            <a:off x="5001768" y="36393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Zero Trust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01768" y="38404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Identity-first access model for agents and AI platforms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Converged AI Security Foundational Program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8887968" cy="73152"/>
          </a:xfrm>
          <a:prstGeom prst="rect">
            <a:avLst/>
          </a:prstGeom>
          <a:solidFill>
            <a:srgbClr val="2E78C5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43891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1234440"/>
            <a:ext cx="5394960" cy="502920"/>
          </a:xfrm>
          <a:prstGeom prst="rect">
            <a:avLst/>
          </a:prstGeom>
          <a:solidFill>
            <a:srgbClr val="112240"/>
          </a:solidFill>
          <a:ln w="6350">
            <a:solidFill>
              <a:srgbClr val="2E78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2344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Endorse the program charter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29400" y="1234440"/>
            <a:ext cx="1371600" cy="502920"/>
          </a:xfrm>
          <a:prstGeom prst="rect">
            <a:avLst/>
          </a:prstGeom>
          <a:solidFill>
            <a:srgbClr val="12192B"/>
          </a:solidFill>
          <a:ln w="6350">
            <a:solidFill>
              <a:srgbClr val="2E78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234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Week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92440" y="1234440"/>
            <a:ext cx="777240" cy="502920"/>
          </a:xfrm>
          <a:prstGeom prst="rect">
            <a:avLst/>
          </a:prstGeom>
          <a:solidFill>
            <a:srgbClr val="12192B"/>
          </a:solidFill>
          <a:ln w="6350">
            <a:solidFill>
              <a:srgbClr val="2E78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12344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CEF"/>
                </a:solidFill>
              </a:rPr>
              <a:t>All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1938528"/>
            <a:ext cx="43891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38528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1938528"/>
            <a:ext cx="5394960" cy="502920"/>
          </a:xfrm>
          <a:prstGeom prst="rect">
            <a:avLst/>
          </a:prstGeom>
          <a:solidFill>
            <a:srgbClr val="112240"/>
          </a:solidFill>
          <a:ln w="6350">
            <a:solidFill>
              <a:srgbClr val="2E78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9385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Appoint Program Director and directorate leads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1938528"/>
            <a:ext cx="1371600" cy="502920"/>
          </a:xfrm>
          <a:prstGeom prst="rect">
            <a:avLst/>
          </a:prstGeom>
          <a:solidFill>
            <a:srgbClr val="12192B"/>
          </a:solidFill>
          <a:ln w="6350">
            <a:solidFill>
              <a:srgbClr val="2E78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9385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Week 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92440" y="1938528"/>
            <a:ext cx="777240" cy="502920"/>
          </a:xfrm>
          <a:prstGeom prst="rect">
            <a:avLst/>
          </a:prstGeom>
          <a:solidFill>
            <a:srgbClr val="12192B"/>
          </a:solidFill>
          <a:ln w="6350">
            <a:solidFill>
              <a:srgbClr val="2E78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19385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CEF"/>
                </a:solidFill>
              </a:rPr>
              <a:t>CISO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360" y="2642616"/>
            <a:ext cx="43891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642616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43000" y="2642616"/>
            <a:ext cx="5394960" cy="502920"/>
          </a:xfrm>
          <a:prstGeom prst="rect">
            <a:avLst/>
          </a:prstGeom>
          <a:solidFill>
            <a:srgbClr val="112240"/>
          </a:solidFill>
          <a:ln w="6350">
            <a:solidFill>
              <a:srgbClr val="2E78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264261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Stand up AI Security Steering Committee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9400" y="2642616"/>
            <a:ext cx="1371600" cy="502920"/>
          </a:xfrm>
          <a:prstGeom prst="rect">
            <a:avLst/>
          </a:prstGeom>
          <a:solidFill>
            <a:srgbClr val="12192B"/>
          </a:solidFill>
          <a:ln w="6350">
            <a:solidFill>
              <a:srgbClr val="2E78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64261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Week 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92440" y="2642616"/>
            <a:ext cx="777240" cy="502920"/>
          </a:xfrm>
          <a:prstGeom prst="rect">
            <a:avLst/>
          </a:prstGeom>
          <a:solidFill>
            <a:srgbClr val="12192B"/>
          </a:solidFill>
          <a:ln w="6350">
            <a:solidFill>
              <a:srgbClr val="2E78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2642616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CEF"/>
                </a:solidFill>
              </a:rPr>
              <a:t>All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4360" y="3346704"/>
            <a:ext cx="43891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346704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43000" y="3346704"/>
            <a:ext cx="5394960" cy="502920"/>
          </a:xfrm>
          <a:prstGeom prst="rect">
            <a:avLst/>
          </a:prstGeom>
          <a:solidFill>
            <a:srgbClr val="112240"/>
          </a:solidFill>
          <a:ln w="6350">
            <a:solidFill>
              <a:srgbClr val="2E78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4440" y="334670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Kick off AI asset discovery across all directorates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29400" y="3346704"/>
            <a:ext cx="1371600" cy="502920"/>
          </a:xfrm>
          <a:prstGeom prst="rect">
            <a:avLst/>
          </a:prstGeom>
          <a:solidFill>
            <a:srgbClr val="12192B"/>
          </a:solidFill>
          <a:ln w="6350">
            <a:solidFill>
              <a:srgbClr val="2E78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334670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Month 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92440" y="3346704"/>
            <a:ext cx="777240" cy="502920"/>
          </a:xfrm>
          <a:prstGeom prst="rect">
            <a:avLst/>
          </a:prstGeom>
          <a:solidFill>
            <a:srgbClr val="12192B"/>
          </a:solidFill>
          <a:ln w="6350">
            <a:solidFill>
              <a:srgbClr val="2E78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92440" y="3346704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CEF"/>
                </a:solidFill>
              </a:rPr>
              <a:t>Directorate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4360" y="4050792"/>
            <a:ext cx="43891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05079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43000" y="4050792"/>
            <a:ext cx="5394960" cy="502920"/>
          </a:xfrm>
          <a:prstGeom prst="rect">
            <a:avLst/>
          </a:prstGeom>
          <a:solidFill>
            <a:srgbClr val="112240"/>
          </a:solidFill>
          <a:ln w="6350">
            <a:solidFill>
              <a:srgbClr val="2E78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34440" y="405079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Finalise RACI and operating model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29400" y="4050792"/>
            <a:ext cx="1371600" cy="502920"/>
          </a:xfrm>
          <a:prstGeom prst="rect">
            <a:avLst/>
          </a:prstGeom>
          <a:solidFill>
            <a:srgbClr val="12192B"/>
          </a:solidFill>
          <a:ln w="6350">
            <a:solidFill>
              <a:srgbClr val="2E78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40507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Month 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92440" y="4050792"/>
            <a:ext cx="777240" cy="502920"/>
          </a:xfrm>
          <a:prstGeom prst="rect">
            <a:avLst/>
          </a:prstGeom>
          <a:solidFill>
            <a:srgbClr val="12192B"/>
          </a:solidFill>
          <a:ln w="6350">
            <a:solidFill>
              <a:srgbClr val="2E78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92440" y="405079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CEF"/>
                </a:solidFill>
              </a:rPr>
              <a:t>Program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Converged AI Security Foundational Program</dc:title>
  <dc:subject>PptxGenJS Presentation</dc:subject>
  <dc:creator>PptxGenJS</dc:creator>
  <cp:lastModifiedBy>PptxGenJS</cp:lastModifiedBy>
  <cp:revision>1</cp:revision>
  <dcterms:created xsi:type="dcterms:W3CDTF">2026-04-02T04:39:40Z</dcterms:created>
  <dcterms:modified xsi:type="dcterms:W3CDTF">2026-04-02T04:39:40Z</dcterms:modified>
</cp:coreProperties>
</file>